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49" d="100"/>
          <a:sy n="149" d="100"/>
        </p:scale>
        <p:origin x="208" y="-1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uki ogata" userId="bef903dc667aad56" providerId="LiveId" clId="{019853C9-519A-45EB-954C-7D14CD1EC061}"/>
    <pc:docChg chg="modSld">
      <pc:chgData name="yuuki ogata" userId="bef903dc667aad56" providerId="LiveId" clId="{019853C9-519A-45EB-954C-7D14CD1EC061}" dt="2026-04-11T13:49:43.262" v="71" actId="20577"/>
      <pc:docMkLst>
        <pc:docMk/>
      </pc:docMkLst>
      <pc:sldChg chg="modSp mod">
        <pc:chgData name="yuuki ogata" userId="bef903dc667aad56" providerId="LiveId" clId="{019853C9-519A-45EB-954C-7D14CD1EC061}" dt="2026-04-11T13:49:43.262" v="71" actId="20577"/>
        <pc:sldMkLst>
          <pc:docMk/>
          <pc:sldMk cId="0" sldId="256"/>
        </pc:sldMkLst>
        <pc:spChg chg="mod">
          <ac:chgData name="yuuki ogata" userId="bef903dc667aad56" providerId="LiveId" clId="{019853C9-519A-45EB-954C-7D14CD1EC061}" dt="2026-04-11T13:46:56.855" v="14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yuuki ogata" userId="bef903dc667aad56" providerId="LiveId" clId="{019853C9-519A-45EB-954C-7D14CD1EC061}" dt="2026-04-11T13:46:23.535" v="9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yuuki ogata" userId="bef903dc667aad56" providerId="LiveId" clId="{019853C9-519A-45EB-954C-7D14CD1EC061}" dt="2026-04-11T13:49:43.262" v="71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yuuki ogata" userId="bef903dc667aad56" providerId="LiveId" clId="{019853C9-519A-45EB-954C-7D14CD1EC061}" dt="2026-04-11T13:49:36.442" v="69" actId="20577"/>
          <ac:spMkLst>
            <pc:docMk/>
            <pc:sldMk cId="0" sldId="256"/>
            <ac:spMk id="63" creationId="{00000000-0000-0000-0000-000000000000}"/>
          </ac:spMkLst>
        </pc:spChg>
        <pc:spChg chg="mod">
          <ac:chgData name="yuuki ogata" userId="bef903dc667aad56" providerId="LiveId" clId="{019853C9-519A-45EB-954C-7D14CD1EC061}" dt="2026-04-11T13:48:15.855" v="40" actId="20577"/>
          <ac:spMkLst>
            <pc:docMk/>
            <pc:sldMk cId="0" sldId="256"/>
            <ac:spMk id="65" creationId="{00000000-0000-0000-0000-000000000000}"/>
          </ac:spMkLst>
        </pc:spChg>
        <pc:spChg chg="mod">
          <ac:chgData name="yuuki ogata" userId="bef903dc667aad56" providerId="LiveId" clId="{019853C9-519A-45EB-954C-7D14CD1EC061}" dt="2026-04-11T13:49:12.628" v="62" actId="2711"/>
          <ac:spMkLst>
            <pc:docMk/>
            <pc:sldMk cId="0" sldId="256"/>
            <ac:spMk id="70" creationId="{00000000-0000-0000-0000-000000000000}"/>
          </ac:spMkLst>
        </pc:spChg>
        <pc:spChg chg="mod">
          <ac:chgData name="yuuki ogata" userId="bef903dc667aad56" providerId="LiveId" clId="{019853C9-519A-45EB-954C-7D14CD1EC061}" dt="2026-04-11T13:48:35.304" v="41" actId="2711"/>
          <ac:spMkLst>
            <pc:docMk/>
            <pc:sldMk cId="0" sldId="256"/>
            <ac:spMk id="7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318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https://make-it-tech.com/ (homepage): headline and overview text adapted from lines 4-7, 15-23, 27-28, 31-60, 73-79, 128-160, 293-299.
- https://make-it-tech.com/services (services): service categories, support principles, process, and common consultations adapted from lines 5-18, 21-50, 92-119, 156-220, 222-249, 390-430.
- https://make-it-tech.com/about (about): representative name, profile, service scope, and example support areas adapted from lines 7-8, 19-24, 32-46, 54-56, 71-146, 176-190.
- Logo image: https://make-it-tech.com/_next/image?q=75&amp;url=%2Fimages%2Flogo_MIT_transparent.png&amp;w=256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1E8A67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Make It Tech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12064" y="704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新潟のDX・IT支援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12064" y="914400"/>
            <a:ext cx="2423160" cy="201168"/>
          </a:xfrm>
          <a:prstGeom prst="roundRect">
            <a:avLst>
              <a:gd name="adj" fmla="val 36364"/>
            </a:avLst>
          </a:prstGeom>
          <a:solidFill>
            <a:srgbClr val="1E8A67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85216" y="923544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 err="1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中小事業者・個人事業主向け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340096" y="457200"/>
            <a:ext cx="1719072" cy="190195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381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340096" y="457200"/>
            <a:ext cx="1719072" cy="164592"/>
          </a:xfrm>
          <a:prstGeom prst="rect">
            <a:avLst/>
          </a:prstGeom>
          <a:solidFill>
            <a:srgbClr val="1E8A67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504688" y="6949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Make It Techの姿勢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941832"/>
            <a:ext cx="1335024" cy="256032"/>
          </a:xfrm>
          <a:prstGeom prst="roundRect">
            <a:avLst>
              <a:gd name="adj" fmla="val 21429"/>
            </a:avLst>
          </a:prstGeom>
          <a:solidFill>
            <a:srgbClr val="ECF8F3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632704" y="960120"/>
            <a:ext cx="1179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 err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作るより先に整理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532120" y="1335024"/>
            <a:ext cx="1335024" cy="256032"/>
          </a:xfrm>
          <a:prstGeom prst="roundRect">
            <a:avLst>
              <a:gd name="adj" fmla="val 21429"/>
            </a:avLst>
          </a:prstGeom>
          <a:solidFill>
            <a:srgbClr val="EDF5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586984" y="13807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最小構成で早く動かす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532120" y="1728216"/>
            <a:ext cx="1335024" cy="256032"/>
          </a:xfrm>
          <a:prstGeom prst="roundRect">
            <a:avLst>
              <a:gd name="adj" fmla="val 21429"/>
            </a:avLst>
          </a:prstGeom>
          <a:solidFill>
            <a:srgbClr val="F7FBEA"/>
          </a:solidFill>
          <a:ln w="12700">
            <a:solidFill>
              <a:srgbClr val="AFD8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586984" y="177393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既存ツールで済むなら作らない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5486400" y="205740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現場で運用できる形を優先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3682" y="1252728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0F172A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Noto Sans CJK JP" pitchFamily="34" charset="-120"/>
              </a:rPr>
              <a:t>Web制作から業務改善・DXまで。</a:t>
            </a:r>
            <a:endParaRPr lang="en-US" sz="215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  <a:p>
            <a:pPr marL="0" indent="0">
              <a:buNone/>
            </a:pPr>
            <a:r>
              <a:rPr lang="en-US" sz="2150" b="1" dirty="0">
                <a:solidFill>
                  <a:srgbClr val="0F172A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Noto Sans CJK JP" pitchFamily="34" charset="-120"/>
              </a:rPr>
              <a:t>「</a:t>
            </a:r>
            <a:r>
              <a:rPr lang="en-US" sz="2150" b="1" dirty="0" err="1">
                <a:solidFill>
                  <a:srgbClr val="0F172A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Noto Sans CJK JP" pitchFamily="34" charset="-120"/>
              </a:rPr>
              <a:t>現場で回る仕組み」を支援します</a:t>
            </a:r>
            <a:endParaRPr lang="en-US" sz="215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064" y="241401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新潟の中小事業者・個人事業主向けに、Web制作、ツール導入、自動化、システム構築まで、低コストで・丁寧に・信頼重視で一気通貫支援。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" y="3017520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対応できること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" y="3438144"/>
            <a:ext cx="6492240" cy="786384"/>
          </a:xfrm>
          <a:prstGeom prst="roundRect">
            <a:avLst>
              <a:gd name="adj" fmla="val 9302"/>
            </a:avLst>
          </a:prstGeom>
          <a:solidFill>
            <a:srgbClr val="EDF5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76656" y="3593592"/>
            <a:ext cx="502920" cy="438912"/>
          </a:xfrm>
          <a:prstGeom prst="roundRect">
            <a:avLst>
              <a:gd name="adj" fmla="val 1875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72084" y="37398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16736" y="35478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Web制作・導線設計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16736" y="375818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店舗サイト / 採用ページ / LP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構成設計・CTA改善・更新しやすい設計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30352" y="4425696"/>
            <a:ext cx="6492240" cy="786384"/>
          </a:xfrm>
          <a:prstGeom prst="roundRect">
            <a:avLst>
              <a:gd name="adj" fmla="val 9302"/>
            </a:avLst>
          </a:prstGeom>
          <a:solidFill>
            <a:srgbClr val="ECF8F3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76656" y="4581144"/>
            <a:ext cx="502920" cy="438912"/>
          </a:xfrm>
          <a:prstGeom prst="roundRect">
            <a:avLst>
              <a:gd name="adj" fmla="val 18750"/>
            </a:avLst>
          </a:prstGeom>
          <a:solidFill>
            <a:srgbClr val="1E8A67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76656" y="472744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16736" y="45354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業務改善・見える化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16736" y="4745736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業務フロー整理 / 入力ルール整備 / 引き継げる運用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属人化や非効率を整理し、運用の型づくりまで対応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30352" y="5413248"/>
            <a:ext cx="6492240" cy="786384"/>
          </a:xfrm>
          <a:prstGeom prst="roundRect">
            <a:avLst>
              <a:gd name="adj" fmla="val 9302"/>
            </a:avLst>
          </a:prstGeom>
          <a:solidFill>
            <a:srgbClr val="F7FBEA"/>
          </a:solidFill>
          <a:ln w="12700">
            <a:solidFill>
              <a:srgbClr val="AFD8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76656" y="5568696"/>
            <a:ext cx="502920" cy="438912"/>
          </a:xfrm>
          <a:prstGeom prst="roundRect">
            <a:avLst>
              <a:gd name="adj" fmla="val 18750"/>
            </a:avLst>
          </a:prstGeom>
          <a:solidFill>
            <a:srgbClr val="AFD84F"/>
          </a:solidFill>
          <a:ln w="12700">
            <a:solidFill>
              <a:srgbClr val="AFD8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76656" y="571500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316736" y="552297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ツール導入・自動化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16736" y="573328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 / フォーム / 管理シート / 通知連携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最小コストで仕組み化し、必要なら小規模システムまで対応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512064" y="6400800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Make It Techの進め方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66928" y="6812280"/>
            <a:ext cx="197510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25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658368" y="6912864"/>
            <a:ext cx="320040" cy="320040"/>
          </a:xfrm>
          <a:prstGeom prst="ellipse">
            <a:avLst/>
          </a:prstGeom>
          <a:solidFill>
            <a:srgbClr val="1E8A67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58368" y="7004304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60704" y="698601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まず整理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18388" y="7296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ea typeface="Noto Sans CJK JP" pitchFamily="34" charset="-122"/>
                <a:cs typeface="Noto Sans CJK JP" pitchFamily="34" charset="-120"/>
              </a:rPr>
              <a:t>現状と理想を整理し、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ea typeface="Noto Sans CJK JP" pitchFamily="34" charset="-122"/>
                <a:cs typeface="Noto Sans CJK JP" pitchFamily="34" charset="-120"/>
              </a:rPr>
              <a:t>必要な範囲を見極める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24912" y="6821424"/>
            <a:ext cx="197510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25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2834640" y="6912864"/>
            <a:ext cx="320040" cy="3200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2834640" y="7004304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36976" y="698601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最小構成で実装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122676" y="7269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ea typeface="Noto Sans CJK JP" pitchFamily="34" charset="-122"/>
                <a:cs typeface="Noto Sans CJK JP" pitchFamily="34" charset="-120"/>
              </a:rPr>
              <a:t>まず動く状態を作り、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ea typeface="Noto Sans CJK JP" pitchFamily="34" charset="-122"/>
                <a:cs typeface="Noto Sans CJK JP" pitchFamily="34" charset="-120"/>
              </a:rPr>
              <a:t>効果が見えたら拡張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919472" y="6812280"/>
            <a:ext cx="197510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25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5010912" y="6912864"/>
            <a:ext cx="320040" cy="320040"/>
          </a:xfrm>
          <a:prstGeom prst="ellipse">
            <a:avLst/>
          </a:prstGeom>
          <a:solidFill>
            <a:srgbClr val="AFD84F"/>
          </a:solidFill>
          <a:ln w="12700">
            <a:solidFill>
              <a:srgbClr val="AFD8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010912" y="7004304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13248" y="697687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運用まで伴走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76088" y="7287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導入して終わりにせず、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数字と現場の声で改善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12064" y="8028432"/>
            <a:ext cx="6537960" cy="235915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76656" y="8183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対応実績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8467344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CF8F3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86384" y="851306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福祉系企業の業務支援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3319272" y="8467344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DF5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3392424" y="851306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教育系事業所のDX支援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713232" y="8851392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F7FBEA"/>
          </a:solidFill>
          <a:ln w="12700">
            <a:solidFill>
              <a:srgbClr val="91B9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786384" y="889711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飲食店のWeb活用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3319272" y="8851392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F3F7FF"/>
          </a:solidFill>
          <a:ln w="12700">
            <a:solidFill>
              <a:srgbClr val="6E8FC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3392424" y="889711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 err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公式LINEの構築・運用補助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694944" y="93085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 / 尾形友輝</a:t>
            </a:r>
            <a:endParaRPr lang="en-US" sz="1120" dirty="0"/>
          </a:p>
        </p:txBody>
      </p:sp>
      <p:sp>
        <p:nvSpPr>
          <p:cNvPr id="65" name="Text 63"/>
          <p:cNvSpPr/>
          <p:nvPr/>
        </p:nvSpPr>
        <p:spPr>
          <a:xfrm>
            <a:off x="694944" y="9528048"/>
            <a:ext cx="3611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新潟大学 工学部 </a:t>
            </a:r>
            <a:r>
              <a:rPr lang="en-US" sz="880" dirty="0" err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情報電子分野</a:t>
            </a:r>
            <a:r>
              <a:rPr lang="en-US" sz="8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(</a:t>
            </a:r>
            <a:r>
              <a:rPr lang="en-US" sz="880" dirty="0" err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在学中</a:t>
            </a:r>
            <a:r>
              <a:rPr lang="en-US" sz="8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  <a:endParaRPr lang="en-US" sz="880" dirty="0"/>
          </a:p>
          <a:p>
            <a:pPr marL="0" indent="0">
              <a:buNone/>
            </a:pPr>
            <a:r>
              <a:rPr lang="en-US" sz="880" dirty="0" err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学業と並行し、Web・システム開発や業務AI</a:t>
            </a:r>
            <a:r>
              <a:rPr lang="ja-JP" altLang="en-US" sz="8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化</a:t>
            </a:r>
            <a:r>
              <a:rPr lang="en-US" sz="880" dirty="0" err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支援を実施</a:t>
            </a:r>
            <a:r>
              <a:rPr lang="en-US" sz="8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  <a:endParaRPr lang="en-US" sz="880" dirty="0"/>
          </a:p>
          <a:p>
            <a:pPr marL="0" indent="0">
              <a:buNone/>
            </a:pPr>
            <a:r>
              <a:rPr lang="en-US" sz="880" dirty="0" err="1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相談時点で要件が固まっていなくてもOK。最短の改善案を提案します</a:t>
            </a:r>
            <a:r>
              <a:rPr lang="en-US" sz="8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5010912" y="9189720"/>
            <a:ext cx="1801368" cy="978408"/>
          </a:xfrm>
          <a:prstGeom prst="roundRect">
            <a:avLst>
              <a:gd name="adj" fmla="val 8333"/>
            </a:avLst>
          </a:prstGeom>
          <a:solidFill>
            <a:srgbClr val="1E8A67"/>
          </a:solidFill>
          <a:ln w="12700">
            <a:solidFill>
              <a:srgbClr val="1E8A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7" name="Image 0" descr="/mnt/data/make_it_tech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9290304"/>
            <a:ext cx="585216" cy="585216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5779008" y="9345168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無料相談・実績詳細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5779008" y="9729216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make-it-tech.com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5129784" y="988466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 err="1">
                <a:solidFill>
                  <a:srgbClr val="FFFFFF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Noto Sans CJK JP" pitchFamily="34" charset="-120"/>
              </a:rPr>
              <a:t>まずは「現状の困りごと」を</a:t>
            </a:r>
            <a:r>
              <a:rPr lang="ja-JP" altLang="en-US" sz="700" dirty="0">
                <a:solidFill>
                  <a:srgbClr val="FFFFFF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Noto Sans CJK JP" pitchFamily="34" charset="-120"/>
              </a:rPr>
              <a:t>相談！</a:t>
            </a:r>
            <a:endParaRPr lang="en-US" sz="70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76656" y="10168128"/>
            <a:ext cx="5577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67085"/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Noto Sans CJK JP" pitchFamily="34" charset="-120"/>
              </a:rPr>
              <a:t>Web制作 / 業務改善 / 自動化 / DX支援 / マーケティング支援</a:t>
            </a:r>
            <a:endParaRPr lang="en-US" sz="760" dirty="0">
              <a:latin typeface="ＭＳ Ｐ明朝" panose="02020600040205080304" pitchFamily="18" charset="-128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319</Words>
  <Application>Microsoft Office PowerPoint</Application>
  <PresentationFormat>ユーザー設定</PresentationFormat>
  <Paragraphs>52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ＭＳ Ｐ明朝</vt:lpstr>
      <vt:lpstr>ＭＳ Ｐ明朝</vt:lpstr>
      <vt:lpstr>ＭＳ 明朝</vt:lpstr>
      <vt:lpstr>Noto Sans CJK JP</vt:lpstr>
      <vt:lpstr>Arial</vt:lpstr>
      <vt:lpstr>Office Theme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It Tech 新潟向け認知用チラシ</dc:title>
  <dc:subject>Make It Tech 認知用チラシ</dc:subject>
  <dc:creator>OpenAI</dc:creator>
  <cp:lastModifiedBy>yuuki ogata</cp:lastModifiedBy>
  <cp:revision>2</cp:revision>
  <dcterms:created xsi:type="dcterms:W3CDTF">2026-04-02T05:00:25Z</dcterms:created>
  <dcterms:modified xsi:type="dcterms:W3CDTF">2026-04-11T13:49:49Z</dcterms:modified>
</cp:coreProperties>
</file>